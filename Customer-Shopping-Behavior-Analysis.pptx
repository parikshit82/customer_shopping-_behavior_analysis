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DM Sans" pitchFamily="2" charset="0"/>
      <p:regular r:id="rId13"/>
    </p:embeddedFont>
    <p:embeddedFont>
      <p:font typeface="Libre Baskerville" panose="020F0502020204030204" pitchFamily="2" charset="0"/>
      <p:regular r:id="rId1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44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033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DFA"/>
          </a:solidFill>
          <a:ln/>
        </p:spPr>
      </p:sp>
      <p:pic>
        <p:nvPicPr>
          <p:cNvPr id="4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287297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Shopping Behavior Analysis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4630698"/>
            <a:ext cx="75564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Uncovering insights from 3,900 purchases to guide strategic business decisions</a:t>
            </a:r>
            <a:endParaRPr lang="en-US" sz="1750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ED01BD4-5CA9-D593-EF96-FDCFFF7B34D4}"/>
              </a:ext>
            </a:extLst>
          </p:cNvPr>
          <p:cNvSpPr/>
          <p:nvPr/>
        </p:nvSpPr>
        <p:spPr>
          <a:xfrm>
            <a:off x="12863945" y="7772400"/>
            <a:ext cx="1631373" cy="3740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008715"/>
            <a:ext cx="5670590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Dataset Overview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3,900</a:t>
            </a:r>
            <a:endParaRPr lang="en-US" sz="5850" dirty="0"/>
          </a:p>
        </p:txBody>
      </p:sp>
      <p:sp>
        <p:nvSpPr>
          <p:cNvPr id="5" name="Text 2"/>
          <p:cNvSpPr/>
          <p:nvPr/>
        </p:nvSpPr>
        <p:spPr>
          <a:xfrm>
            <a:off x="1455420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Total Purchases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Comprehensive transaction data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235893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18</a:t>
            </a:r>
            <a:endParaRPr lang="en-US" sz="5850" dirty="0"/>
          </a:p>
        </p:txBody>
      </p:sp>
      <p:sp>
        <p:nvSpPr>
          <p:cNvPr id="8" name="Text 5"/>
          <p:cNvSpPr/>
          <p:nvPr/>
        </p:nvSpPr>
        <p:spPr>
          <a:xfrm>
            <a:off x="5897523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Columns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5235893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 demographics &amp; behavior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9677995" y="5171003"/>
            <a:ext cx="4158615" cy="748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850"/>
              </a:lnSpc>
              <a:buNone/>
            </a:pPr>
            <a:r>
              <a:rPr lang="en-US" sz="58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37</a:t>
            </a:r>
            <a:endParaRPr lang="en-US" sz="5850" dirty="0"/>
          </a:p>
        </p:txBody>
      </p:sp>
      <p:sp>
        <p:nvSpPr>
          <p:cNvPr id="11" name="Text 8"/>
          <p:cNvSpPr/>
          <p:nvPr/>
        </p:nvSpPr>
        <p:spPr>
          <a:xfrm>
            <a:off x="10339626" y="620279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Values</a:t>
            </a:r>
            <a:endParaRPr lang="en-US" sz="2200" dirty="0"/>
          </a:p>
        </p:txBody>
      </p:sp>
      <p:sp>
        <p:nvSpPr>
          <p:cNvPr id="12" name="Text 9"/>
          <p:cNvSpPr/>
          <p:nvPr/>
        </p:nvSpPr>
        <p:spPr>
          <a:xfrm>
            <a:off x="9677995" y="669321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Only in Review Rating column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217DC61-1127-BA9A-A7EA-121A44EE0579}"/>
              </a:ext>
            </a:extLst>
          </p:cNvPr>
          <p:cNvSpPr/>
          <p:nvPr/>
        </p:nvSpPr>
        <p:spPr>
          <a:xfrm>
            <a:off x="12863945" y="7772400"/>
            <a:ext cx="1631373" cy="3740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686044"/>
            <a:ext cx="7258526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Preparation Process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01</a:t>
            </a:r>
            <a:endParaRPr lang="en-US" sz="1750" dirty="0"/>
          </a:p>
        </p:txBody>
      </p:sp>
      <p:sp>
        <p:nvSpPr>
          <p:cNvPr id="4" name="Shape 2"/>
          <p:cNvSpPr/>
          <p:nvPr/>
        </p:nvSpPr>
        <p:spPr>
          <a:xfrm>
            <a:off x="793790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793790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 Loading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93790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Imported dataset using pandas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5216962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02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5216962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216962" y="33778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Initial Exploration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5216962" y="3868222"/>
            <a:ext cx="419635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Structure check and summary statistics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9640133" y="2848451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03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9640133" y="3203496"/>
            <a:ext cx="4196358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9640133" y="3377803"/>
            <a:ext cx="330981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Missing Data Handling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9640133" y="3868222"/>
            <a:ext cx="419635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Imputed Review Rating with median values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793790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04</a:t>
            </a:r>
            <a:endParaRPr lang="en-US" sz="1750" dirty="0"/>
          </a:p>
        </p:txBody>
      </p:sp>
      <p:sp>
        <p:nvSpPr>
          <p:cNvPr id="16" name="Shape 14"/>
          <p:cNvSpPr/>
          <p:nvPr/>
        </p:nvSpPr>
        <p:spPr>
          <a:xfrm>
            <a:off x="793790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793790" y="5520214"/>
            <a:ext cx="295441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Feature Engineering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93790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Created age groups and purchase frequency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7428548" y="4990862"/>
            <a:ext cx="226814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Libre Baskerville Light" pitchFamily="34" charset="0"/>
                <a:ea typeface="Libre Baskerville Light" pitchFamily="34" charset="-122"/>
                <a:cs typeface="Libre Baskerville Light" pitchFamily="34" charset="-120"/>
              </a:rPr>
              <a:t>05</a:t>
            </a:r>
            <a:endParaRPr lang="en-US" sz="1750" dirty="0"/>
          </a:p>
        </p:txBody>
      </p:sp>
      <p:sp>
        <p:nvSpPr>
          <p:cNvPr id="20" name="Shape 18"/>
          <p:cNvSpPr/>
          <p:nvPr/>
        </p:nvSpPr>
        <p:spPr>
          <a:xfrm>
            <a:off x="7428548" y="5345906"/>
            <a:ext cx="6407944" cy="30480"/>
          </a:xfrm>
          <a:prstGeom prst="rect">
            <a:avLst/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7428548" y="5520214"/>
            <a:ext cx="3012877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Database Integration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28548" y="6010632"/>
            <a:ext cx="6407944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Connected to PostgreSQL for analysis</a:t>
            </a:r>
            <a:endParaRPr lang="en-US" sz="175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1371AE1A-2D28-5D77-2589-DAFEC6A13ABE}"/>
              </a:ext>
            </a:extLst>
          </p:cNvPr>
          <p:cNvSpPr/>
          <p:nvPr/>
        </p:nvSpPr>
        <p:spPr>
          <a:xfrm>
            <a:off x="12863945" y="7772400"/>
            <a:ext cx="1631373" cy="3740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5984"/>
            <a:ext cx="8242697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by Gender Analysis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3790" y="2510076"/>
            <a:ext cx="7604284" cy="4001095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3738563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40320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4026337" y="6541651"/>
            <a:ext cx="49339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Male</a:t>
            </a:r>
            <a:endParaRPr lang="en-US" sz="1750" dirty="0"/>
          </a:p>
        </p:txBody>
      </p:sp>
      <p:sp>
        <p:nvSpPr>
          <p:cNvPr id="6" name="Shape 3"/>
          <p:cNvSpPr/>
          <p:nvPr/>
        </p:nvSpPr>
        <p:spPr>
          <a:xfrm>
            <a:off x="4672132" y="6541651"/>
            <a:ext cx="226814" cy="226814"/>
          </a:xfrm>
          <a:prstGeom prst="roundRect">
            <a:avLst>
              <a:gd name="adj" fmla="val 8063"/>
            </a:avLst>
          </a:prstGeom>
          <a:solidFill>
            <a:srgbClr val="CC9D27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4959906" y="6541651"/>
            <a:ext cx="749975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</a:t>
            </a:r>
            <a:endParaRPr lang="en-US" sz="1750" dirty="0"/>
          </a:p>
        </p:txBody>
      </p:sp>
      <p:sp>
        <p:nvSpPr>
          <p:cNvPr id="8" name="Text 5"/>
          <p:cNvSpPr/>
          <p:nvPr/>
        </p:nvSpPr>
        <p:spPr>
          <a:xfrm>
            <a:off x="8959096" y="24817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Key Insight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8959096" y="3062883"/>
            <a:ext cx="488501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Female customers generate slightly higher total revenue than male customers</a:t>
            </a:r>
            <a:endParaRPr lang="en-US" sz="1750" dirty="0"/>
          </a:p>
        </p:txBody>
      </p:sp>
      <p:sp>
        <p:nvSpPr>
          <p:cNvPr id="10" name="Shape 7"/>
          <p:cNvSpPr/>
          <p:nvPr/>
        </p:nvSpPr>
        <p:spPr>
          <a:xfrm>
            <a:off x="8959096" y="4043839"/>
            <a:ext cx="4885015" cy="1326713"/>
          </a:xfrm>
          <a:prstGeom prst="roundRect">
            <a:avLst>
              <a:gd name="adj" fmla="val 7181"/>
            </a:avLst>
          </a:prstGeom>
          <a:solidFill>
            <a:srgbClr val="F3E4BF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5910" y="4387929"/>
            <a:ext cx="283488" cy="2268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9696212" y="4327327"/>
            <a:ext cx="3921085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00000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Gender-based marketing strategies could optimize revenue streams</a:t>
            </a:r>
            <a:endParaRPr lang="en-US" sz="175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ACE191-DDFF-57B0-F204-C80C96838DE5}"/>
              </a:ext>
            </a:extLst>
          </p:cNvPr>
          <p:cNvSpPr/>
          <p:nvPr/>
        </p:nvSpPr>
        <p:spPr>
          <a:xfrm>
            <a:off x="12863945" y="7772400"/>
            <a:ext cx="1631373" cy="3740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491258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High-Value Discount Users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3248978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Customers using discounts while spending above average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6280190" y="3867031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6514624" y="410146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Smart Shoppers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6514624" y="4591883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 spenders who maximize value with discounts</a:t>
            </a:r>
            <a:endParaRPr lang="en-US" sz="1750" dirty="0"/>
          </a:p>
        </p:txBody>
      </p:sp>
      <p:sp>
        <p:nvSpPr>
          <p:cNvPr id="8" name="Shape 5"/>
          <p:cNvSpPr/>
          <p:nvPr/>
        </p:nvSpPr>
        <p:spPr>
          <a:xfrm>
            <a:off x="6280190" y="5416034"/>
            <a:ext cx="7556421" cy="1322189"/>
          </a:xfrm>
          <a:prstGeom prst="roundRect">
            <a:avLst>
              <a:gd name="adj" fmla="val 7205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6514624" y="5650468"/>
            <a:ext cx="3200162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Opportunity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514624" y="6140887"/>
            <a:ext cx="708755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Target premium customers with exclusive offers</a:t>
            </a:r>
            <a:endParaRPr lang="en-US" sz="175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56807C-3982-5C27-8A98-ABE200E265EA}"/>
              </a:ext>
            </a:extLst>
          </p:cNvPr>
          <p:cNvSpPr/>
          <p:nvPr/>
        </p:nvSpPr>
        <p:spPr>
          <a:xfrm>
            <a:off x="12863945" y="7772400"/>
            <a:ext cx="1631373" cy="3740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2835235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4295537"/>
            <a:ext cx="58126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Top-Rated Products</a:t>
            </a:r>
            <a:endParaRPr lang="en-US" sz="445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3790" y="5344478"/>
            <a:ext cx="382667" cy="340162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33130" y="5344478"/>
            <a:ext cx="382667" cy="340162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72471" y="5344478"/>
            <a:ext cx="382667" cy="340162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11812" y="5344478"/>
            <a:ext cx="382667" cy="340162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51152" y="5344478"/>
            <a:ext cx="382667" cy="340162"/>
          </a:xfrm>
          <a:prstGeom prst="rect">
            <a:avLst/>
          </a:prstGeom>
        </p:spPr>
      </p:pic>
      <p:sp>
        <p:nvSpPr>
          <p:cNvPr id="9" name="Text 1"/>
          <p:cNvSpPr/>
          <p:nvPr/>
        </p:nvSpPr>
        <p:spPr>
          <a:xfrm>
            <a:off x="3103840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0" name="Text 2"/>
          <p:cNvSpPr/>
          <p:nvPr/>
        </p:nvSpPr>
        <p:spPr>
          <a:xfrm>
            <a:off x="793790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Blouse</a:t>
            </a:r>
            <a:endParaRPr lang="en-US" sz="2200" dirty="0"/>
          </a:p>
        </p:txBody>
      </p:sp>
      <p:sp>
        <p:nvSpPr>
          <p:cNvPr id="11" name="Text 3"/>
          <p:cNvSpPr/>
          <p:nvPr/>
        </p:nvSpPr>
        <p:spPr>
          <a:xfrm>
            <a:off x="793790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Highest customer satisfaction</a:t>
            </a:r>
            <a:endParaRPr lang="en-US" sz="1750" dirty="0"/>
          </a:p>
        </p:txBody>
      </p:sp>
      <p:pic>
        <p:nvPicPr>
          <p:cNvPr id="1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5893" y="5344478"/>
            <a:ext cx="382667" cy="340162"/>
          </a:xfrm>
          <a:prstGeom prst="rect">
            <a:avLst/>
          </a:prstGeom>
        </p:spPr>
      </p:pic>
      <p:pic>
        <p:nvPicPr>
          <p:cNvPr id="13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75233" y="5344478"/>
            <a:ext cx="382667" cy="340162"/>
          </a:xfrm>
          <a:prstGeom prst="rect">
            <a:avLst/>
          </a:prstGeom>
        </p:spPr>
      </p:pic>
      <p:pic>
        <p:nvPicPr>
          <p:cNvPr id="14" name="Image 8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14574" y="5344478"/>
            <a:ext cx="382667" cy="340162"/>
          </a:xfrm>
          <a:prstGeom prst="rect">
            <a:avLst/>
          </a:prstGeom>
        </p:spPr>
      </p:pic>
      <p:pic>
        <p:nvPicPr>
          <p:cNvPr id="15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3914" y="5344478"/>
            <a:ext cx="382667" cy="340162"/>
          </a:xfrm>
          <a:prstGeom prst="rect">
            <a:avLst/>
          </a:prstGeom>
        </p:spPr>
      </p:pic>
      <p:pic>
        <p:nvPicPr>
          <p:cNvPr id="1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3255" y="5344478"/>
            <a:ext cx="382667" cy="340162"/>
          </a:xfrm>
          <a:prstGeom prst="rect">
            <a:avLst/>
          </a:prstGeom>
        </p:spPr>
      </p:pic>
      <p:sp>
        <p:nvSpPr>
          <p:cNvPr id="17" name="Text 4"/>
          <p:cNvSpPr/>
          <p:nvPr/>
        </p:nvSpPr>
        <p:spPr>
          <a:xfrm>
            <a:off x="7545943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5</a:t>
            </a:r>
            <a:endParaRPr lang="en-US" sz="2200" dirty="0"/>
          </a:p>
        </p:txBody>
      </p:sp>
      <p:sp>
        <p:nvSpPr>
          <p:cNvPr id="18" name="Text 5"/>
          <p:cNvSpPr/>
          <p:nvPr/>
        </p:nvSpPr>
        <p:spPr>
          <a:xfrm>
            <a:off x="5235893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Dress</a:t>
            </a:r>
            <a:endParaRPr lang="en-US" sz="2200" dirty="0"/>
          </a:p>
        </p:txBody>
      </p:sp>
      <p:sp>
        <p:nvSpPr>
          <p:cNvPr id="19" name="Text 6"/>
          <p:cNvSpPr/>
          <p:nvPr/>
        </p:nvSpPr>
        <p:spPr>
          <a:xfrm>
            <a:off x="5235893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Consistently excellent reviews</a:t>
            </a:r>
            <a:endParaRPr lang="en-US" sz="1750" dirty="0"/>
          </a:p>
        </p:txBody>
      </p:sp>
      <p:pic>
        <p:nvPicPr>
          <p:cNvPr id="2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7995" y="5344478"/>
            <a:ext cx="382667" cy="340162"/>
          </a:xfrm>
          <a:prstGeom prst="rect">
            <a:avLst/>
          </a:prstGeom>
        </p:spPr>
      </p:pic>
      <p:pic>
        <p:nvPicPr>
          <p:cNvPr id="21" name="Image 1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336" y="5344478"/>
            <a:ext cx="382667" cy="340162"/>
          </a:xfrm>
          <a:prstGeom prst="rect">
            <a:avLst/>
          </a:prstGeom>
        </p:spPr>
      </p:pic>
      <p:pic>
        <p:nvPicPr>
          <p:cNvPr id="22" name="Image 1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56677" y="5344478"/>
            <a:ext cx="382667" cy="340162"/>
          </a:xfrm>
          <a:prstGeom prst="rect">
            <a:avLst/>
          </a:prstGeom>
        </p:spPr>
      </p:pic>
      <p:pic>
        <p:nvPicPr>
          <p:cNvPr id="23" name="Image 1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96017" y="5344478"/>
            <a:ext cx="382667" cy="340162"/>
          </a:xfrm>
          <a:prstGeom prst="rect">
            <a:avLst/>
          </a:prstGeom>
        </p:spPr>
      </p:pic>
      <p:pic>
        <p:nvPicPr>
          <p:cNvPr id="24" name="Image 1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35358" y="5344478"/>
            <a:ext cx="382667" cy="340162"/>
          </a:xfrm>
          <a:prstGeom prst="rect">
            <a:avLst/>
          </a:prstGeom>
        </p:spPr>
      </p:pic>
      <p:sp>
        <p:nvSpPr>
          <p:cNvPr id="25" name="Text 7"/>
          <p:cNvSpPr/>
          <p:nvPr/>
        </p:nvSpPr>
        <p:spPr>
          <a:xfrm>
            <a:off x="11988046" y="5403413"/>
            <a:ext cx="283488" cy="2834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</a:t>
            </a:r>
            <a:endParaRPr lang="en-US" sz="2200" dirty="0"/>
          </a:p>
        </p:txBody>
      </p:sp>
      <p:sp>
        <p:nvSpPr>
          <p:cNvPr id="26" name="Text 8"/>
          <p:cNvSpPr/>
          <p:nvPr/>
        </p:nvSpPr>
        <p:spPr>
          <a:xfrm>
            <a:off x="9677995" y="591597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Shirt</a:t>
            </a:r>
            <a:endParaRPr lang="en-US" sz="2200" dirty="0"/>
          </a:p>
        </p:txBody>
      </p:sp>
      <p:sp>
        <p:nvSpPr>
          <p:cNvPr id="27" name="Text 9"/>
          <p:cNvSpPr/>
          <p:nvPr/>
        </p:nvSpPr>
        <p:spPr>
          <a:xfrm>
            <a:off x="9677995" y="6406396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Strong customer approval</a:t>
            </a:r>
            <a:endParaRPr lang="en-US" sz="1750" dirty="0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4B804E6-DF1A-2F07-12EB-2ABD7BB56098}"/>
              </a:ext>
            </a:extLst>
          </p:cNvPr>
          <p:cNvSpPr/>
          <p:nvPr/>
        </p:nvSpPr>
        <p:spPr>
          <a:xfrm>
            <a:off x="12863945" y="7772400"/>
            <a:ext cx="1631373" cy="3740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1417201"/>
            <a:ext cx="7556421" cy="141755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Shipping Preferences Impact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793790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Express Shipping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793790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$65</a:t>
            </a:r>
            <a:endParaRPr lang="en-US" sz="8900" dirty="0"/>
          </a:p>
        </p:txBody>
      </p:sp>
      <p:sp>
        <p:nvSpPr>
          <p:cNvPr id="6" name="Text 3"/>
          <p:cNvSpPr/>
          <p:nvPr/>
        </p:nvSpPr>
        <p:spPr>
          <a:xfrm>
            <a:off x="793790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4856321" y="3401735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Standard Shipping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856321" y="3982879"/>
            <a:ext cx="3501509" cy="14176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1150"/>
              </a:lnSpc>
              <a:buNone/>
            </a:pPr>
            <a:r>
              <a:rPr lang="en-US" sz="890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$58</a:t>
            </a:r>
            <a:endParaRPr lang="en-US" sz="8900" dirty="0"/>
          </a:p>
        </p:txBody>
      </p:sp>
      <p:sp>
        <p:nvSpPr>
          <p:cNvPr id="9" name="Text 6"/>
          <p:cNvSpPr/>
          <p:nvPr/>
        </p:nvSpPr>
        <p:spPr>
          <a:xfrm>
            <a:off x="4856321" y="5627370"/>
            <a:ext cx="35015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Average purchase amount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93790" y="6449497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Express shipping customers spend 12% more per transaction</a:t>
            </a:r>
            <a:endParaRPr lang="en-US" sz="1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35631"/>
            <a:ext cx="591931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Subscription Impact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478042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68%</a:t>
            </a:r>
            <a:endParaRPr lang="en-US" sz="4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1932" y="2454712"/>
            <a:ext cx="3402330" cy="340233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55420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Higher Spend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793790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Subscribers vs non-subscribers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5920145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45%</a:t>
            </a:r>
            <a:endParaRPr lang="en-US" sz="445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4035" y="2454712"/>
            <a:ext cx="3402330" cy="340233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897523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Revenue Share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5235893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From subscription customers</a:t>
            </a:r>
            <a:endParaRPr lang="en-US" sz="1750" dirty="0"/>
          </a:p>
        </p:txBody>
      </p:sp>
      <p:sp>
        <p:nvSpPr>
          <p:cNvPr id="11" name="Text 7"/>
          <p:cNvSpPr/>
          <p:nvPr/>
        </p:nvSpPr>
        <p:spPr>
          <a:xfrm>
            <a:off x="10362248" y="3872389"/>
            <a:ext cx="2789873" cy="5669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450"/>
              </a:lnSpc>
              <a:buNone/>
            </a:pPr>
            <a:r>
              <a:rPr lang="en-US" sz="445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78%</a:t>
            </a:r>
            <a:endParaRPr lang="en-US" sz="445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6138" y="2454712"/>
            <a:ext cx="3402330" cy="340233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339626" y="614052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Rate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9677995" y="6630948"/>
            <a:ext cx="415861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Repeat purchase frequency</a:t>
            </a:r>
            <a:endParaRPr lang="en-US" sz="1750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67761D1-92A0-8090-E549-41EE557D079D}"/>
              </a:ext>
            </a:extLst>
          </p:cNvPr>
          <p:cNvSpPr/>
          <p:nvPr/>
        </p:nvSpPr>
        <p:spPr>
          <a:xfrm>
            <a:off x="12863945" y="7772400"/>
            <a:ext cx="1631373" cy="3740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07413"/>
            <a:ext cx="708040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Customer Segmentation</a:t>
            </a:r>
            <a:endParaRPr lang="en-US" sz="44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8348" y="2369820"/>
            <a:ext cx="2152055" cy="130694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894892" y="2985849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1</a:t>
            </a:r>
            <a:endParaRPr lang="en-US" sz="2500" dirty="0"/>
          </a:p>
        </p:txBody>
      </p:sp>
      <p:sp>
        <p:nvSpPr>
          <p:cNvPr id="5" name="Text 2"/>
          <p:cNvSpPr/>
          <p:nvPr/>
        </p:nvSpPr>
        <p:spPr>
          <a:xfrm>
            <a:off x="5357217" y="2596634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5357217" y="3087053"/>
            <a:ext cx="288000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15% - High value customers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5187077" y="3689866"/>
            <a:ext cx="8592860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2381" y="3733443"/>
            <a:ext cx="4304109" cy="130694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894892" y="4187547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2</a:t>
            </a:r>
            <a:endParaRPr lang="en-US" sz="2500" dirty="0"/>
          </a:p>
        </p:txBody>
      </p:sp>
      <p:sp>
        <p:nvSpPr>
          <p:cNvPr id="10" name="Text 6"/>
          <p:cNvSpPr/>
          <p:nvPr/>
        </p:nvSpPr>
        <p:spPr>
          <a:xfrm>
            <a:off x="6433304" y="3960257"/>
            <a:ext cx="251293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Returning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6433304" y="4450675"/>
            <a:ext cx="2512933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35% - Regular shoppers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6263164" y="5053489"/>
            <a:ext cx="7516773" cy="15240"/>
          </a:xfrm>
          <a:prstGeom prst="roundRect">
            <a:avLst>
              <a:gd name="adj" fmla="val 625116"/>
            </a:avLst>
          </a:prstGeom>
          <a:solidFill>
            <a:srgbClr val="DDD3BA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6294" y="5097066"/>
            <a:ext cx="6456164" cy="1306949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894773" y="5551170"/>
            <a:ext cx="318968" cy="3986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2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3</a:t>
            </a:r>
            <a:endParaRPr lang="en-US" sz="2500" dirty="0"/>
          </a:p>
        </p:txBody>
      </p:sp>
      <p:sp>
        <p:nvSpPr>
          <p:cNvPr id="15" name="Text 10"/>
          <p:cNvSpPr/>
          <p:nvPr/>
        </p:nvSpPr>
        <p:spPr>
          <a:xfrm>
            <a:off x="7509272" y="5323880"/>
            <a:ext cx="2542699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New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09272" y="5814298"/>
            <a:ext cx="254269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50% - First-time buyers</a:t>
            </a:r>
            <a:endParaRPr lang="en-US" sz="1750" dirty="0"/>
          </a:p>
        </p:txBody>
      </p:sp>
      <p:sp>
        <p:nvSpPr>
          <p:cNvPr id="17" name="Text 12"/>
          <p:cNvSpPr/>
          <p:nvPr/>
        </p:nvSpPr>
        <p:spPr>
          <a:xfrm>
            <a:off x="793790" y="6659166"/>
            <a:ext cx="130428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converting New to Returning, Returning to Loyal</a:t>
            </a:r>
            <a:endParaRPr lang="en-US" sz="1750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08D1774-2859-9072-777F-433858B38090}"/>
              </a:ext>
            </a:extLst>
          </p:cNvPr>
          <p:cNvSpPr/>
          <p:nvPr/>
        </p:nvSpPr>
        <p:spPr>
          <a:xfrm>
            <a:off x="12863945" y="7772400"/>
            <a:ext cx="1631373" cy="3740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257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034683" y="430768"/>
            <a:ext cx="5660827" cy="48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850"/>
              </a:lnSpc>
              <a:buNone/>
            </a:pPr>
            <a:r>
              <a:rPr lang="en-US" sz="3050" dirty="0">
                <a:solidFill>
                  <a:srgbClr val="5C4E3D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Strategic Recommendations</a:t>
            </a:r>
            <a:endParaRPr lang="en-US" sz="3050" dirty="0"/>
          </a:p>
        </p:txBody>
      </p:sp>
      <p:sp>
        <p:nvSpPr>
          <p:cNvPr id="4" name="Shape 1"/>
          <p:cNvSpPr/>
          <p:nvPr/>
        </p:nvSpPr>
        <p:spPr>
          <a:xfrm>
            <a:off x="6034683" y="1155144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2"/>
          <p:cNvSpPr/>
          <p:nvPr/>
        </p:nvSpPr>
        <p:spPr>
          <a:xfrm>
            <a:off x="6198870" y="1319332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8053" y="1422083"/>
            <a:ext cx="211455" cy="2643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8870" y="1945838"/>
            <a:ext cx="198989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Boost Subscriptions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198870" y="2284571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Promote exclusive benefits for subscribers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6034683" y="2855952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6"/>
          <p:cNvSpPr/>
          <p:nvPr/>
        </p:nvSpPr>
        <p:spPr>
          <a:xfrm>
            <a:off x="6198870" y="3020139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28053" y="3122890"/>
            <a:ext cx="211455" cy="264319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98870" y="3646646"/>
            <a:ext cx="1958102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Loyalty Programs</a:t>
            </a:r>
            <a:endParaRPr lang="en-US" sz="1500" dirty="0"/>
          </a:p>
        </p:txBody>
      </p:sp>
      <p:sp>
        <p:nvSpPr>
          <p:cNvPr id="13" name="Text 8"/>
          <p:cNvSpPr/>
          <p:nvPr/>
        </p:nvSpPr>
        <p:spPr>
          <a:xfrm>
            <a:off x="6198870" y="3985379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Reward repeat buyers to increase retention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6034683" y="4556760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0"/>
          <p:cNvSpPr/>
          <p:nvPr/>
        </p:nvSpPr>
        <p:spPr>
          <a:xfrm>
            <a:off x="6198870" y="4720947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8053" y="4823698"/>
            <a:ext cx="211455" cy="26431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198870" y="5347454"/>
            <a:ext cx="1975009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Targeted Marketing</a:t>
            </a:r>
            <a:endParaRPr lang="en-US" sz="1500" dirty="0"/>
          </a:p>
        </p:txBody>
      </p:sp>
      <p:sp>
        <p:nvSpPr>
          <p:cNvPr id="18" name="Text 12"/>
          <p:cNvSpPr/>
          <p:nvPr/>
        </p:nvSpPr>
        <p:spPr>
          <a:xfrm>
            <a:off x="6198870" y="5686187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Focus on high-revenue segments and express users</a:t>
            </a:r>
            <a:endParaRPr lang="en-US" sz="1200" dirty="0"/>
          </a:p>
        </p:txBody>
      </p:sp>
      <p:sp>
        <p:nvSpPr>
          <p:cNvPr id="19" name="Shape 13"/>
          <p:cNvSpPr/>
          <p:nvPr/>
        </p:nvSpPr>
        <p:spPr>
          <a:xfrm>
            <a:off x="6034683" y="6257568"/>
            <a:ext cx="8047434" cy="1544241"/>
          </a:xfrm>
          <a:prstGeom prst="roundRect">
            <a:avLst>
              <a:gd name="adj" fmla="val 4261"/>
            </a:avLst>
          </a:prstGeom>
          <a:solidFill>
            <a:srgbClr val="F7EDD4"/>
          </a:solidFill>
          <a:ln w="7620">
            <a:solidFill>
              <a:srgbClr val="DDD3B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4"/>
          <p:cNvSpPr/>
          <p:nvPr/>
        </p:nvSpPr>
        <p:spPr>
          <a:xfrm>
            <a:off x="6198870" y="6421755"/>
            <a:ext cx="469940" cy="469940"/>
          </a:xfrm>
          <a:prstGeom prst="roundRect">
            <a:avLst>
              <a:gd name="adj" fmla="val 19455857"/>
            </a:avLst>
          </a:prstGeom>
          <a:solidFill>
            <a:srgbClr val="B88E23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28053" y="6524506"/>
            <a:ext cx="211455" cy="264319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198870" y="7048262"/>
            <a:ext cx="1986796" cy="2447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500" dirty="0">
                <a:solidFill>
                  <a:srgbClr val="454240"/>
                </a:solidFill>
                <a:latin typeface="Libre Baskerville" pitchFamily="34" charset="0"/>
                <a:ea typeface="Libre Baskerville" pitchFamily="34" charset="-122"/>
                <a:cs typeface="Libre Baskerville" pitchFamily="34" charset="-120"/>
              </a:rPr>
              <a:t>Product Positioning</a:t>
            </a:r>
            <a:endParaRPr lang="en-US" sz="1500" dirty="0"/>
          </a:p>
        </p:txBody>
      </p:sp>
      <p:sp>
        <p:nvSpPr>
          <p:cNvPr id="23" name="Text 16"/>
          <p:cNvSpPr/>
          <p:nvPr/>
        </p:nvSpPr>
        <p:spPr>
          <a:xfrm>
            <a:off x="6198870" y="7386995"/>
            <a:ext cx="7719060" cy="2506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200" dirty="0">
                <a:solidFill>
                  <a:srgbClr val="454240"/>
                </a:solidFill>
                <a:latin typeface="DM Sans" pitchFamily="34" charset="0"/>
                <a:ea typeface="DM Sans" pitchFamily="34" charset="-122"/>
                <a:cs typeface="DM Sans" pitchFamily="34" charset="-120"/>
              </a:rPr>
              <a:t>Highlight top-rated products in campaigns</a:t>
            </a:r>
            <a:endParaRPr lang="en-US" sz="1200" dirty="0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D9A6DEB6-D672-7C03-CAB8-60C7ED7DC953}"/>
              </a:ext>
            </a:extLst>
          </p:cNvPr>
          <p:cNvSpPr/>
          <p:nvPr/>
        </p:nvSpPr>
        <p:spPr>
          <a:xfrm>
            <a:off x="12863945" y="7772400"/>
            <a:ext cx="1631373" cy="3740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277</Words>
  <Application>Microsoft Office PowerPoint</Application>
  <PresentationFormat>Custom</PresentationFormat>
  <Paragraphs>98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DM Sans</vt:lpstr>
      <vt:lpstr>Arial</vt:lpstr>
      <vt:lpstr>Libre Baskerville</vt:lpstr>
      <vt:lpstr>Libre Baskerville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PARIKSHIT ARYA</cp:lastModifiedBy>
  <cp:revision>2</cp:revision>
  <dcterms:created xsi:type="dcterms:W3CDTF">2025-10-14T02:52:14Z</dcterms:created>
  <dcterms:modified xsi:type="dcterms:W3CDTF">2026-03-31T19:52:18Z</dcterms:modified>
</cp:coreProperties>
</file>